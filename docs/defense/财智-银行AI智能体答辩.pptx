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。我们答辩的系统叫财智，对话里叫小财。接下来十分钟按赛题的「安全」和「体验」来讲：它怎样听懂一句话，怎样自己把查询做完，哪三类场景现在就能演示，以及转账、卡片、代扣为什么不会被静默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赛题要求三件事。第一，用户用自然语言把目标说出来。第二，智能体自己规划并执行，至少覆盖三个核心场景。第三，APP、即时通讯或网页都能接上。财智只留一条产品路径：网页对话进入 Harness，技能、工具、确认、合规和记忆都记在同一条事件日志上。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个场景没有都写成已经完成。能演示的是三条：财务和投资数据的分析，基金筛选和对比，以及一句话里的跨场景查询。转账、卡片和代扣的业务工具没有接入。需要人工确认的调用会先暂停。账单这里说清楚：现在的数据是上市公司财务和行情，个人银行卡消费明细还没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看到的是一句问话和一段回答。中间每一步先固定身份、合规和技能目录，再由模型决定要不要调工具。互不依赖的查询在同一轮并行。单回合最多三十步。用户能看见的只有通过合规审查、并且不再调用工具的正文。每一次调用都有一条结果。同一会话同时只跑一个回合，冲突时返回 409。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理财用一个具体问题讲。用户要筛近一年回撤更低的债券基金，并和货币基金对比，同时不要买卖建议。系统走到基金筛选技能，先确认类型、区间和风险口径，再调用基金筛选工具。筛选边界不会被放宽。正文如果写出保证收益、稳赚、必涨或直接买入，发布层会整段换成安全提示。申购和赎回没有工具，所以不会代客下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账单分析用两家公司的收入和利润对比来演示。财务数字只走财务查询，不用新闻补。去年会写成具体年份，答案里的期间必须和请求一致。算增速之前先核对单位、币种和期间，缺汇率就不算跨币种同比。多路结果需要综合时，成稿只做一次。哪一路是空的，就说明缺口。这里的数据源是上市公司财务和行情。个人银行卡消费明细尚未接入，分类、对比、异常和缺口沿用这一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跨场景是把基金表现、重仓公司盈利和最新公告放在同一句里。三路互不依赖，所以同一轮并行。实体如果对不上，先澄清再查。用户改了公司，就只回答新公司。消息里的密钥或令牌不会写进工具参数、日志或回答。工具如果返回下一页游标，系统自己继续取，不反问用户要不要继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工具是查询、检索和计算，只读。转账、调额、锁卡、取消代扣和申赎没有注册。一旦某个工具被标记为需要人工确认，调度器会先把确认请求写入日志并暂停，允许或拒绝之后才写决定和工具结果。会话如果还挂着未决确认，再发新问题会返回 409。空答案不发布，合规禁语会被替换。每一次调用都有对应结果。检索回来的文本当成不可信数据，里面夹带的指令不会执行。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体验上，现在的客户端是网页：左边历史会话，中间问候，下面今日热榜，回答用 SSE 推送。记忆只在用户明确说请记住、改成或忘记时写入。长对话会压缩，工具的请求和结果成对保留。APP 和即时通讯如果要接，复用同一个查询接口。核心评测有五十条，其中六条看合规、安全和抗注入。硬门槛是不许串公司、串年份、伪造来源，也不许给确定性买卖指令。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三句。第一，财智能听懂金融意图，自己选技能和工具，只说对得上证据的结果。第二，现场建议演示三条：财务对比，基金筛选，以及基金、财务、公告放在一句里。第三，转账、卡片、代扣和代客下单没有接入，没有允许决定就不会执行。汇报完了，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8A6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D3A4"/>
                </a:solidFill>
                <a:latin typeface="Microsoft YaHei"/>
                <a:ea typeface="Microsoft YaHei"/>
                <a:cs typeface="Microsoft YaHei"/>
              </a:rPr>
              <a:t>人工智能赛道    ·    答辩材料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6766560" cy="7863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财智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67712"/>
            <a:ext cx="6583680" cy="4754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银行 AI 智能体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2907792"/>
            <a:ext cx="1234440" cy="22860"/>
          </a:xfrm>
          <a:prstGeom prst="rect">
            <a:avLst/>
          </a:prstGeom>
          <a:solidFill>
            <a:srgbClr val="8A6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127248"/>
            <a:ext cx="630936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7E1D6"/>
                </a:solidFill>
                <a:latin typeface="Microsoft YaHei"/>
                <a:ea typeface="Microsoft YaHei"/>
                <a:cs typeface="Microsoft YaHei"/>
              </a:rPr>
              <a:t>听懂一句金融需求，自己规划步骤，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800" b="0">
                <a:solidFill>
                  <a:srgbClr val="E7E1D6"/>
                </a:solidFill>
                <a:latin typeface="Microsoft YaHei"/>
                <a:ea typeface="Microsoft YaHei"/>
                <a:cs typeface="Microsoft YaHei"/>
              </a:rPr>
              <a:t>用工具取出可核对的结果。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800" b="0">
                <a:solidFill>
                  <a:srgbClr val="E6D3A4"/>
                </a:solidFill>
                <a:latin typeface="Microsoft YaHei"/>
                <a:ea typeface="Microsoft YaHei"/>
                <a:cs typeface="Microsoft YaHei"/>
              </a:rPr>
              <a:t>资金类动作不静默执行。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989320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C1B4"/>
                </a:solidFill>
                <a:latin typeface="Microsoft YaHei"/>
                <a:ea typeface="Microsoft YaHei"/>
                <a:cs typeface="Microsoft YaHei"/>
              </a:rPr>
              <a:t>汇报不超过 10 分钟     安全与体验并重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16368" y="530352"/>
            <a:ext cx="4133087" cy="5797296"/>
          </a:xfrm>
          <a:prstGeom prst="roundRect">
            <a:avLst>
              <a:gd name="adj" fmla="val 6000"/>
            </a:avLst>
          </a:prstGeom>
          <a:solidFill>
            <a:srgbClr val="16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78638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D3A4"/>
                </a:solidFill>
                <a:latin typeface="Microsoft YaHei"/>
                <a:ea typeface="Microsoft YaHei"/>
                <a:cs typeface="Microsoft YaHei"/>
              </a:rPr>
              <a:t>现场可以演示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1243584"/>
            <a:ext cx="50292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FCB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243584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账单分析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5544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5D5CE"/>
                </a:solidFill>
                <a:latin typeface="Microsoft YaHei"/>
                <a:ea typeface="Microsoft YaHei"/>
                <a:cs typeface="Microsoft YaHei"/>
              </a:rPr>
              <a:t>财务对比、期间口径、缺口直说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2084832"/>
            <a:ext cx="50292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FCB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84832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理财操作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3957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5D5CE"/>
                </a:solidFill>
                <a:latin typeface="Microsoft YaHei"/>
                <a:ea typeface="Microsoft YaHei"/>
                <a:cs typeface="Microsoft YaHei"/>
              </a:rPr>
              <a:t>基金筛选与对比，不代客下单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2926080"/>
            <a:ext cx="50292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FCB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92608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跨场景联动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23697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5D5CE"/>
                </a:solidFill>
                <a:latin typeface="Microsoft YaHei"/>
                <a:ea typeface="Microsoft YaHei"/>
                <a:cs typeface="Microsoft YaHei"/>
              </a:rPr>
              <a:t>一句话拆成多路，同一轮并行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90688" y="3822191"/>
            <a:ext cx="3584448" cy="10972"/>
          </a:xfrm>
          <a:prstGeom prst="rect">
            <a:avLst/>
          </a:prstGeom>
          <a:solidFill>
            <a:srgbClr val="2A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0688" y="4023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D3A4"/>
                </a:solidFill>
                <a:latin typeface="Microsoft YaHei"/>
                <a:ea typeface="Microsoft YaHei"/>
                <a:cs typeface="Microsoft YaHei"/>
              </a:rPr>
              <a:t>接入前先确认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4443984"/>
            <a:ext cx="502920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3B5A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44398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3E7E2"/>
                </a:solidFill>
                <a:latin typeface="Microsoft YaHei"/>
                <a:ea typeface="Microsoft YaHei"/>
                <a:cs typeface="Microsoft YaHei"/>
              </a:rPr>
              <a:t>智能转账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0688" y="4919472"/>
            <a:ext cx="502920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3B5A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919472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3E7E2"/>
                </a:solidFill>
                <a:latin typeface="Microsoft YaHei"/>
                <a:ea typeface="Microsoft YaHei"/>
                <a:cs typeface="Microsoft YaHei"/>
              </a:rPr>
              <a:t>卡片管理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0688" y="5394960"/>
            <a:ext cx="502920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3B5A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539496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3E7E2"/>
                </a:solidFill>
                <a:latin typeface="Microsoft YaHei"/>
                <a:ea typeface="Microsoft YaHei"/>
                <a:cs typeface="Microsoft YaHei"/>
              </a:rPr>
              <a:t>订阅与代扣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6424"/>
                </a:solidFill>
                <a:latin typeface="Microsoft YaHei"/>
                <a:ea typeface="Microsoft YaHei"/>
                <a:cs typeface="Microsoft YaHei"/>
              </a:rPr>
              <a:t>01    赛题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要交的是能把事情办完的智能体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170432"/>
            <a:ext cx="3611880" cy="2944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8096" y="1371600"/>
            <a:ext cx="384048" cy="41148"/>
          </a:xfrm>
          <a:prstGeom prst="rect">
            <a:avLst/>
          </a:prstGeom>
          <a:solidFill>
            <a:srgbClr val="146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5361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A642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75104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听懂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487168"/>
            <a:ext cx="3127248" cy="1280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用户用自然语言说出目标。不需要先在菜单里找到对应功能。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170432"/>
            <a:ext cx="3611880" cy="2944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371600"/>
            <a:ext cx="384048" cy="41148"/>
          </a:xfrm>
          <a:prstGeom prst="rect">
            <a:avLst/>
          </a:prstGeom>
          <a:solidFill>
            <a:srgbClr val="8A6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361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A642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75104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办完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487168"/>
            <a:ext cx="3127248" cy="1280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智能体自己规划，并调用相应能力。至少覆盖三个核心场景。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70432"/>
            <a:ext cx="3611880" cy="2944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84464" y="1371600"/>
            <a:ext cx="384048" cy="41148"/>
          </a:xfrm>
          <a:prstGeom prst="rect">
            <a:avLst/>
          </a:prstGeom>
          <a:solidFill>
            <a:srgbClr val="146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5361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A642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1975104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接得上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487168"/>
            <a:ext cx="3127248" cy="1280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APP、即时通讯或网页都可以接入。换渠道，不换这一套规划。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4279392"/>
            <a:ext cx="111282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352" y="4279392"/>
            <a:ext cx="73152" cy="2029968"/>
          </a:xfrm>
          <a:prstGeom prst="rect">
            <a:avLst/>
          </a:prstGeom>
          <a:solidFill>
            <a:srgbClr val="8A6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480560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A6424"/>
                </a:solidFill>
                <a:latin typeface="Microsoft YaHei"/>
                <a:ea typeface="Microsoft YaHei"/>
                <a:cs typeface="Microsoft YaHei"/>
              </a:rPr>
              <a:t>财智怎么回答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864608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对话里叫「小财」。产品只留一条路径：网页对话进入 Harness，后面由事件日志驱动循环。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技能选择、工具调用、人工确认、合规发布和偏好记忆，都在这条路径上完成。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6547104"/>
            <a:ext cx="11128248" cy="10972"/>
          </a:xfrm>
          <a:prstGeom prst="rect">
            <a:avLst/>
          </a:prstGeom>
          <a:solidFill>
            <a:srgbClr val="E4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601968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财智  ·  银行 AI 智能体答辩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6601968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02   /  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6424"/>
                </a:solidFill>
                <a:latin typeface="Microsoft YaHei"/>
                <a:ea typeface="Microsoft YaHei"/>
                <a:cs typeface="Microsoft YaHei"/>
              </a:rPr>
              <a:t>02    场景对照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六个场景里，三条现在就能演示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下表按当前代码里已经注册的能力填写。赛题的硬性要求是至少三个核心场景。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444752"/>
            <a:ext cx="11128248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" y="1645920"/>
            <a:ext cx="1078992" cy="347472"/>
          </a:xfrm>
          <a:prstGeom prst="roundRect">
            <a:avLst>
              <a:gd name="adj" fmla="val 40000"/>
            </a:avLst>
          </a:prstGeom>
          <a:solidFill>
            <a:srgbClr val="E4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645920"/>
            <a:ext cx="1078992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6454"/>
                </a:solidFill>
                <a:latin typeface="Microsoft YaHei"/>
                <a:ea typeface="Microsoft YaHei"/>
                <a:cs typeface="Microsoft YaHei"/>
              </a:rPr>
              <a:t>可演示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6816" y="1609344"/>
            <a:ext cx="196596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账单分析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536192"/>
            <a:ext cx="745236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已能做财务与投资数据的对比，钉死期间和口径，查不到就直接说明。个人银行卡消费明细尚未接入。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249424"/>
            <a:ext cx="11128248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4944" y="2450592"/>
            <a:ext cx="1078992" cy="347472"/>
          </a:xfrm>
          <a:prstGeom prst="roundRect">
            <a:avLst>
              <a:gd name="adj" fmla="val 40000"/>
            </a:avLst>
          </a:prstGeom>
          <a:solidFill>
            <a:srgbClr val="E4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450592"/>
            <a:ext cx="1078992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6454"/>
                </a:solidFill>
                <a:latin typeface="Microsoft YaHei"/>
                <a:ea typeface="Microsoft YaHei"/>
                <a:cs typeface="Microsoft YaHei"/>
              </a:rPr>
              <a:t>可演示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2414016"/>
            <a:ext cx="196596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理财操作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340864"/>
            <a:ext cx="745236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已能筛选和对比基金。不承诺收益。申购和赎回尚未接入，对话停在候选与比较。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3054096"/>
            <a:ext cx="11128248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4944" y="3255264"/>
            <a:ext cx="1078992" cy="347472"/>
          </a:xfrm>
          <a:prstGeom prst="roundRect">
            <a:avLst>
              <a:gd name="adj" fmla="val 40000"/>
            </a:avLst>
          </a:prstGeom>
          <a:solidFill>
            <a:srgbClr val="E4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3255264"/>
            <a:ext cx="1078992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6454"/>
                </a:solidFill>
                <a:latin typeface="Microsoft YaHei"/>
                <a:ea typeface="Microsoft YaHei"/>
                <a:cs typeface="Microsoft YaHei"/>
              </a:rPr>
              <a:t>可演示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56816" y="3218688"/>
            <a:ext cx="196596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跨场景联动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3145536"/>
            <a:ext cx="745236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已能把一句话拆成多路查询，同一轮并行执行。单个回合最多 30 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3858768"/>
            <a:ext cx="11128248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4944" y="4059935"/>
            <a:ext cx="1078992" cy="347472"/>
          </a:xfrm>
          <a:prstGeom prst="roundRect">
            <a:avLst>
              <a:gd name="adj" fmla="val 40000"/>
            </a:avLst>
          </a:prstGeom>
          <a:solidFill>
            <a:srgbClr val="F8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4059935"/>
            <a:ext cx="1078992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4634"/>
                </a:solidFill>
                <a:latin typeface="Microsoft YaHei"/>
                <a:ea typeface="Microsoft YaHei"/>
                <a:cs typeface="Microsoft YaHei"/>
              </a:rPr>
              <a:t>未接入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6816" y="4023359"/>
            <a:ext cx="196596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智能转账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3950207"/>
            <a:ext cx="745236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转账工具尚未接入。需要人工确认的调用会先暂停，允许之后才执行。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" y="4663440"/>
            <a:ext cx="11128248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4944" y="4864607"/>
            <a:ext cx="1078992" cy="347472"/>
          </a:xfrm>
          <a:prstGeom prst="roundRect">
            <a:avLst>
              <a:gd name="adj" fmla="val 40000"/>
            </a:avLst>
          </a:prstGeom>
          <a:solidFill>
            <a:srgbClr val="F8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864607"/>
            <a:ext cx="1078992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4634"/>
                </a:solidFill>
                <a:latin typeface="Microsoft YaHei"/>
                <a:ea typeface="Microsoft YaHei"/>
                <a:cs typeface="Microsoft YaHei"/>
              </a:rPr>
              <a:t>未接入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6816" y="4828031"/>
            <a:ext cx="196596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卡片管理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4754879"/>
            <a:ext cx="745236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调额、锁卡尚未接入。规则和制度类问题可以查询本地 FAQ。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5468112"/>
            <a:ext cx="11128248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4944" y="5669279"/>
            <a:ext cx="1078992" cy="347472"/>
          </a:xfrm>
          <a:prstGeom prst="roundRect">
            <a:avLst>
              <a:gd name="adj" fmla="val 40000"/>
            </a:avLst>
          </a:prstGeom>
          <a:solidFill>
            <a:srgbClr val="F8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5669279"/>
            <a:ext cx="1078992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4634"/>
                </a:solidFill>
                <a:latin typeface="Microsoft YaHei"/>
                <a:ea typeface="Microsoft YaHei"/>
                <a:cs typeface="Microsoft YaHei"/>
              </a:rPr>
              <a:t>未接入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56816" y="5632703"/>
            <a:ext cx="196596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订阅与代扣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5559551"/>
            <a:ext cx="745236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扣费识别尚未接入。用户明确说「请记住」时，可以记下提醒偏好。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" y="6547104"/>
            <a:ext cx="11128248" cy="10972"/>
          </a:xfrm>
          <a:prstGeom prst="rect">
            <a:avLst/>
          </a:prstGeom>
          <a:solidFill>
            <a:srgbClr val="E4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6601968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财智  ·  银行 AI 智能体答辩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6601968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03   /  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6424"/>
                </a:solidFill>
                <a:latin typeface="Microsoft YaHei"/>
                <a:ea typeface="Microsoft YaHei"/>
                <a:cs typeface="Microsoft YaHei"/>
              </a:rPr>
              <a:t>03    运行时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一句话怎样变成用户看见的回答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27048"/>
            <a:ext cx="10195560" cy="13716"/>
          </a:xfrm>
          <a:prstGeom prst="rect">
            <a:avLst/>
          </a:prstGeom>
          <a:solidFill>
            <a:srgbClr val="E7D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53312" y="1389888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0C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1389888"/>
            <a:ext cx="384048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6D3A4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883664"/>
            <a:ext cx="2029968" cy="17190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993392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用户开口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340864"/>
            <a:ext cx="1737360" cy="11338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一轮对话从网页进入。回答按 SSE 推回当前会话。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21024" y="1389888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0C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389888"/>
            <a:ext cx="384048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6D3A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8064" y="1883664"/>
            <a:ext cx="2029968" cy="17190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4368" y="1993392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进入循环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340864"/>
            <a:ext cx="1737360" cy="11338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先放上身份、合规、工具纪律和技能目录，再决定下一步。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88736" y="1389888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0C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8736" y="1389888"/>
            <a:ext cx="384048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6D3A4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5776" y="1883664"/>
            <a:ext cx="2029968" cy="17190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1993392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选用工具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340864"/>
            <a:ext cx="1737360" cy="11338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财务、行情、基金、公告、新闻、年报、FAQ 和计算。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6448" y="1389888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0C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1389888"/>
            <a:ext cx="384048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6D3A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33488" y="1883664"/>
            <a:ext cx="2029968" cy="17190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9792" y="1993392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该停就停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2340864"/>
            <a:ext cx="1737360" cy="11338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需要确认的调用先写入日志并暂停，允许之后才执行。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24160" y="1389888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0C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0" y="1389888"/>
            <a:ext cx="384048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6D3A4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1883664"/>
            <a:ext cx="2029968" cy="17190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47504" y="1993392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合规后发布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2340864"/>
            <a:ext cx="1737360" cy="11338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不再调用工具的正文，通过审查之后才显示给用户。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3785615"/>
            <a:ext cx="3611880" cy="11155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3785615"/>
            <a:ext cx="1554480" cy="11155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6454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59152" y="3785615"/>
            <a:ext cx="1563624" cy="11155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单回合步数上限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88536" y="3785615"/>
            <a:ext cx="3611880" cy="11155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07992" y="3785615"/>
            <a:ext cx="1554480" cy="11155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6454"/>
                </a:solidFill>
                <a:latin typeface="Microsoft YaHei"/>
                <a:ea typeface="Microsoft YaHei"/>
                <a:cs typeface="Microsoft YaHei"/>
              </a:rPr>
              <a:t>409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17336" y="3785615"/>
            <a:ext cx="1563624" cy="11155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忙或待确认就拒绝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3785615"/>
            <a:ext cx="3611880" cy="11155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66176" y="3785615"/>
            <a:ext cx="1554480" cy="11155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6454"/>
                </a:solidFill>
                <a:latin typeface="Microsoft YaHei"/>
                <a:ea typeface="Microsoft YaHei"/>
                <a:cs typeface="Microsoft YaHei"/>
              </a:rPr>
              <a:t>1 :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3785615"/>
            <a:ext cx="1563624" cy="11155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调用和结果成对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" y="5084064"/>
            <a:ext cx="11128248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5084064"/>
            <a:ext cx="10698480" cy="8412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模型能看见的历史，只有这条会话事件。还在生成的草稿不会直接显示给用户。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" y="6547104"/>
            <a:ext cx="11128248" cy="10972"/>
          </a:xfrm>
          <a:prstGeom prst="rect">
            <a:avLst/>
          </a:prstGeom>
          <a:solidFill>
            <a:srgbClr val="E4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" y="6601968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财智  ·  银行 AI 智能体答辩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6601968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04   /  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6424"/>
                </a:solidFill>
                <a:latin typeface="Microsoft YaHei"/>
                <a:ea typeface="Microsoft YaHei"/>
                <a:cs typeface="Microsoft YaHei"/>
              </a:rPr>
              <a:t>04    理财操作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先对齐口径，再给出可核对的候选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115568"/>
            <a:ext cx="6967728" cy="51937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16736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6424"/>
                </a:solidFill>
                <a:latin typeface="Microsoft YaHei"/>
                <a:ea typeface="Microsoft YaHei"/>
                <a:cs typeface="Microsoft YaHei"/>
              </a:rPr>
              <a:t>用户这样说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664208"/>
            <a:ext cx="644652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帮我筛近一年回撤更低的债券基金，再和货币基金对比。不要给我买卖建议。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90779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4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90779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454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907792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进入基金筛选技能，只走基金筛选这一条工具。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352958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4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52958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45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3529584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先确认基金类型、统计区间和风险口径。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41513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4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1513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454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415137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取回候选和指标。小于、大于保持严格边界。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47731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4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7731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45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477316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空结果就说明没有命中，不擅自放宽条件。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" y="53949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4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3949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454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539496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正文交给发布层。买卖指令和收益承诺过不了审查。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1115568"/>
            <a:ext cx="3977639" cy="1645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0416" y="137160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不承诺收益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0416" y="1865376"/>
            <a:ext cx="3566160" cy="7132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保证收益、稳赚、必涨、直接买入，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发布前换成安全提示。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2889504"/>
            <a:ext cx="3977639" cy="1645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0416" y="3145536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数字来自工具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0416" y="3639312"/>
            <a:ext cx="3566160" cy="7132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基金指标只取筛选结果。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不用模型记忆填空。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0" y="4663440"/>
            <a:ext cx="3977639" cy="1645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0416" y="4919472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比较为止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0416" y="5413248"/>
            <a:ext cx="3566160" cy="7132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申购与赎回尚未接入。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对话停在候选和对比。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6547104"/>
            <a:ext cx="11128248" cy="10972"/>
          </a:xfrm>
          <a:prstGeom prst="rect">
            <a:avLst/>
          </a:prstGeom>
          <a:solidFill>
            <a:srgbClr val="E4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601968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财智  ·  银行 AI 智能体答辩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6601968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05   /  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6424"/>
                </a:solidFill>
                <a:latin typeface="Microsoft YaHei"/>
                <a:ea typeface="Microsoft YaHei"/>
                <a:cs typeface="Microsoft YaHei"/>
              </a:rPr>
              <a:t>05    账单分析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对比之前，先把口径钉死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097280"/>
            <a:ext cx="11128248" cy="1078992"/>
          </a:xfrm>
          <a:prstGeom prst="roundRect">
            <a:avLst>
              <a:gd name="adj" fmla="val 7000"/>
            </a:avLst>
          </a:prstGeom>
          <a:solidFill>
            <a:srgbClr val="0C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243584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D3A4"/>
                </a:solidFill>
                <a:latin typeface="Microsoft YaHei"/>
                <a:ea typeface="Microsoft YaHei"/>
                <a:cs typeface="Microsoft YaHei"/>
              </a:rPr>
              <a:t>用户这样说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536192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对比贵州茅台和五粮液去年的营业收入、净利润，并计算增速。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2322576"/>
            <a:ext cx="11128248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22576"/>
            <a:ext cx="1143000" cy="5852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6454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322576"/>
            <a:ext cx="9418320" cy="5852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财务指标走财务查询。新闻、网页和 FAQ 不拿来补报表数字。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962656"/>
            <a:ext cx="11128248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962656"/>
            <a:ext cx="1143000" cy="5852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6454"/>
                </a:solidFill>
                <a:latin typeface="Microsoft YaHei"/>
                <a:ea typeface="Microsoft YaHei"/>
                <a:cs typeface="Microsoft YaHei"/>
              </a:rPr>
              <a:t>期间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962656"/>
            <a:ext cx="9418320" cy="5852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「去年」「最新」先写成绝对年份或日期。答案里的期间与请求一致。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3602736"/>
            <a:ext cx="11128248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602736"/>
            <a:ext cx="1143000" cy="5852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6454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602736"/>
            <a:ext cx="9418320" cy="5852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先核对单位、币种和期间。跨币种又没有汇率时，要求补充口径。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4242816"/>
            <a:ext cx="11128248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242816"/>
            <a:ext cx="1143000" cy="5852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6454"/>
                </a:solidFill>
                <a:latin typeface="Microsoft YaHei"/>
                <a:ea typeface="Microsoft YaHei"/>
                <a:cs typeface="Microsoft YaHei"/>
              </a:rPr>
              <a:t>成稿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242816"/>
            <a:ext cx="9418320" cy="5852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多公司、多指标收齐后，成稿最多做一次。工具不可用就用已有结果回答。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4882896"/>
            <a:ext cx="11128248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882896"/>
            <a:ext cx="1143000" cy="5852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6454"/>
                </a:solidFill>
                <a:latin typeface="Microsoft YaHei"/>
                <a:ea typeface="Microsoft YaHei"/>
                <a:cs typeface="Microsoft YaHei"/>
              </a:rPr>
              <a:t>缺口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4882896"/>
            <a:ext cx="9418320" cy="5852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查不到就说明查不到。用户更正公司后，只回答更正后的那一家。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5614416"/>
            <a:ext cx="11128248" cy="713232"/>
          </a:xfrm>
          <a:prstGeom prst="roundRect">
            <a:avLst>
              <a:gd name="adj" fmla="val 6000"/>
            </a:avLst>
          </a:prstGeom>
          <a:solidFill>
            <a:srgbClr val="F3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614416"/>
            <a:ext cx="10698480" cy="7132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4634"/>
                </a:solidFill>
                <a:latin typeface="Microsoft YaHei"/>
                <a:ea typeface="Microsoft YaHei"/>
                <a:cs typeface="Microsoft YaHei"/>
              </a:rPr>
              <a:t>数据源是上市公司财务与行情。个人银行卡消费明细尚未接入，分类、对比和缺口沿用上面这五步。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6547104"/>
            <a:ext cx="11128248" cy="10972"/>
          </a:xfrm>
          <a:prstGeom prst="rect">
            <a:avLst/>
          </a:prstGeom>
          <a:solidFill>
            <a:srgbClr val="E4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601968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财智  ·  银行 AI 智能体答辩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6601968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06   /  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6424"/>
                </a:solidFill>
                <a:latin typeface="Microsoft YaHei"/>
                <a:ea typeface="Microsoft YaHei"/>
                <a:cs typeface="Microsoft YaHei"/>
              </a:rPr>
              <a:t>06    跨场景联动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一句请求，拆开并行，收成一份回答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097280"/>
            <a:ext cx="11128248" cy="1115568"/>
          </a:xfrm>
          <a:prstGeom prst="roundRect">
            <a:avLst>
              <a:gd name="adj" fmla="val 7000"/>
            </a:avLst>
          </a:prstGeom>
          <a:solidFill>
            <a:srgbClr val="0C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243584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D3A4"/>
                </a:solidFill>
                <a:latin typeface="Microsoft YaHei"/>
                <a:ea typeface="Microsoft YaHei"/>
                <a:cs typeface="Microsoft YaHei"/>
              </a:rPr>
              <a:t>用户这样说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536192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这只债券基金近一年表现如何？重仓公司去年盈利怎样？最近有没有公告？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2395728"/>
            <a:ext cx="3611880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2542032"/>
            <a:ext cx="3209544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基金与行情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962656"/>
            <a:ext cx="3209544" cy="8046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看区间表现和筛选条件。类型、区间没有说清就先确认。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2395728"/>
            <a:ext cx="3611880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2542032"/>
            <a:ext cx="3209544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财务指标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962656"/>
            <a:ext cx="3209544" cy="8046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重仓公司的收入和利润走财务查询，期间写成绝对年份。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395728"/>
            <a:ext cx="3611880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542032"/>
            <a:ext cx="3209544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公告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962656"/>
            <a:ext cx="3209544" cy="8046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公告单独检索。不用公告里的句子代替报表数字。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4114800"/>
            <a:ext cx="11128248" cy="566928"/>
          </a:xfrm>
          <a:prstGeom prst="roundRect">
            <a:avLst>
              <a:gd name="adj" fmla="val 6000"/>
            </a:avLst>
          </a:prstGeom>
          <a:solidFill>
            <a:srgbClr val="E4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6454"/>
                </a:solidFill>
                <a:latin typeface="Microsoft YaHei"/>
                <a:ea typeface="Microsoft YaHei"/>
                <a:cs typeface="Microsoft YaHei"/>
              </a:rPr>
              <a:t>三路互不依赖，同一轮发出。收齐之后写成一份回答，而不是让用户再问三次。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4846320"/>
            <a:ext cx="2679192" cy="14447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4992624"/>
            <a:ext cx="2386584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先问清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5376672"/>
            <a:ext cx="2386584" cy="7132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实体不确定，先澄清。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明确之前不去查。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46704" y="4846320"/>
            <a:ext cx="2679192" cy="14447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93008" y="4992624"/>
            <a:ext cx="2386584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改了就换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5376672"/>
            <a:ext cx="2386584" cy="7132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用户改了公司，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只回答新的公司。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6" y="4846320"/>
            <a:ext cx="2679192" cy="14447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992624"/>
            <a:ext cx="2386584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凭据不落地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376672"/>
            <a:ext cx="2386584" cy="7132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密钥和密码不进参数，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也不写进回答。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79408" y="4846320"/>
            <a:ext cx="2679192" cy="14447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5712" y="4992624"/>
            <a:ext cx="2386584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分页自己走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712" y="5376672"/>
            <a:ext cx="2386584" cy="7132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没取完就自己继续，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不等用户点头。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" y="6547104"/>
            <a:ext cx="11128248" cy="10972"/>
          </a:xfrm>
          <a:prstGeom prst="rect">
            <a:avLst/>
          </a:prstGeom>
          <a:solidFill>
            <a:srgbClr val="E4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6601968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财智  ·  银行 AI 智能体答辩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6601968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07   /  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6424"/>
                </a:solidFill>
                <a:latin typeface="Microsoft YaHei"/>
                <a:ea typeface="Microsoft YaHei"/>
                <a:cs typeface="Microsoft YaHei"/>
              </a:rPr>
              <a:t>07    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资金类动作停在确认之前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115568"/>
            <a:ext cx="5486400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86384" y="1389888"/>
            <a:ext cx="73152" cy="274320"/>
          </a:xfrm>
          <a:prstGeom prst="rect">
            <a:avLst/>
          </a:prstGeom>
          <a:solidFill>
            <a:srgbClr val="146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316736"/>
            <a:ext cx="4791456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只读是现在的默认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828800"/>
            <a:ext cx="4974336" cy="8778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已上线工具只做查询、检索和计算。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转账、调额、锁卡、代扣和申赎都未注册。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15568"/>
            <a:ext cx="5486400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28232" y="1389888"/>
            <a:ext cx="73152" cy="274320"/>
          </a:xfrm>
          <a:prstGeom prst="rect">
            <a:avLst/>
          </a:prstGeom>
          <a:solidFill>
            <a:srgbClr val="8A6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316736"/>
            <a:ext cx="4791456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先记下决定，再执行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828800"/>
            <a:ext cx="4974336" cy="8778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需要确认的调用先写入请求并暂停。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允许或拒绝之后，才记下决定和结果。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2999232"/>
            <a:ext cx="5486400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" y="3273552"/>
            <a:ext cx="73152" cy="274320"/>
          </a:xfrm>
          <a:prstGeom prst="rect">
            <a:avLst/>
          </a:prstGeom>
          <a:solidFill>
            <a:srgbClr val="146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200400"/>
            <a:ext cx="4791456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未决确认会挡住下一问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712464"/>
            <a:ext cx="4974336" cy="8778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还有未决确认时，新提问返回 409。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同一会话同时只处理一个回合。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999232"/>
            <a:ext cx="5486400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28232" y="3273552"/>
            <a:ext cx="73152" cy="274320"/>
          </a:xfrm>
          <a:prstGeom prst="rect">
            <a:avLst/>
          </a:prstGeom>
          <a:solidFill>
            <a:srgbClr val="8A6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200400"/>
            <a:ext cx="4791456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发布和日志再各挡一层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3712464"/>
            <a:ext cx="4974336" cy="8778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空正文不发布，禁语会换成安全提示。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每次调用恰好一条结果，检索里的指令不执行。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4937760"/>
            <a:ext cx="11128248" cy="1060704"/>
          </a:xfrm>
          <a:prstGeom prst="roundRect">
            <a:avLst>
              <a:gd name="adj" fmla="val 7000"/>
            </a:avLst>
          </a:prstGeom>
          <a:solidFill>
            <a:srgbClr val="0C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937760"/>
            <a:ext cx="10652760" cy="10607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转账、调额、取消代扣、代客申赎若要接入，必须先标成需要人工确认。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600" b="0">
                <a:solidFill>
                  <a:srgbClr val="E6D3A4"/>
                </a:solidFill>
                <a:latin typeface="Microsoft YaHei"/>
                <a:ea typeface="Microsoft YaHei"/>
                <a:cs typeface="Microsoft YaHei"/>
              </a:rPr>
              <a:t>日志里没有允许决定，调度器就不会执行它。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6547104"/>
            <a:ext cx="11128248" cy="10972"/>
          </a:xfrm>
          <a:prstGeom prst="rect">
            <a:avLst/>
          </a:prstGeom>
          <a:solidFill>
            <a:srgbClr val="E4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601968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财智  ·  银行 AI 智能体答辩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6601968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08   / 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6424"/>
                </a:solidFill>
                <a:latin typeface="Microsoft YaHei"/>
                <a:ea typeface="Microsoft YaHei"/>
                <a:cs typeface="Microsoft YaHei"/>
              </a:rPr>
              <a:t>08    体验与评测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对话负责体验，评测守住回答边界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115568"/>
            <a:ext cx="6537960" cy="15179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280160"/>
            <a:ext cx="612648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网页现在就能用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682495"/>
            <a:ext cx="6080760" cy="7863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左侧是历史会话，中间是问候，下方是今日热榜。回答经 SSE 推送。页脚写明内容仅供参考，账户和资金以官方渠道为准。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2743200"/>
            <a:ext cx="6537960" cy="15179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907792"/>
            <a:ext cx="612648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记忆只记明确交代的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310128"/>
            <a:ext cx="6080760" cy="7863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用户说出「请记住」「改成」或「忘记」时，才写入或删除偏好。长期偏好放在身份和工具纪律之后，不改工具怎么选。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4370832"/>
            <a:ext cx="6537960" cy="15179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4535424"/>
            <a:ext cx="612648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长对话会收，渠道可以换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937760"/>
            <a:ext cx="6080760" cy="7863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上下文窗口默认 65536，到八成先裁过大的工具结果，再做摘要。请求和结果成对保留。APP 和即时通讯复用同一个查询接口。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42048" y="1115568"/>
            <a:ext cx="4416552" cy="4882896"/>
          </a:xfrm>
          <a:prstGeom prst="roundRect">
            <a:avLst>
              <a:gd name="adj" fmla="val 7000"/>
            </a:avLst>
          </a:prstGeom>
          <a:solidFill>
            <a:srgbClr val="0C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61504" y="129844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6D3A4"/>
                </a:solidFill>
                <a:latin typeface="Microsoft YaHei"/>
                <a:ea typeface="Microsoft YaHei"/>
                <a:cs typeface="Microsoft YaHei"/>
              </a:rPr>
              <a:t>核心评测  50 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1504" y="1719072"/>
            <a:ext cx="3657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171907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0DC"/>
                </a:solidFill>
                <a:latin typeface="Microsoft YaHei"/>
                <a:ea typeface="Microsoft YaHei"/>
                <a:cs typeface="Microsoft YaHei"/>
              </a:rPr>
              <a:t>财务、筛选与事实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1837943"/>
            <a:ext cx="1554480" cy="91440"/>
          </a:xfrm>
          <a:prstGeom prst="rect">
            <a:avLst/>
          </a:prstGeom>
          <a:solidFill>
            <a:srgbClr val="234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01200" y="1837943"/>
            <a:ext cx="1554480" cy="91440"/>
          </a:xfrm>
          <a:prstGeom prst="rect">
            <a:avLst/>
          </a:prstGeom>
          <a:solidFill>
            <a:srgbClr val="8F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1504" y="2194560"/>
            <a:ext cx="3657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219456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0DC"/>
                </a:solidFill>
                <a:latin typeface="Microsoft YaHei"/>
                <a:ea typeface="Microsoft YaHei"/>
                <a:cs typeface="Microsoft YaHei"/>
              </a:rPr>
              <a:t>比较与计算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2313432"/>
            <a:ext cx="1554480" cy="91440"/>
          </a:xfrm>
          <a:prstGeom prst="rect">
            <a:avLst/>
          </a:prstGeom>
          <a:solidFill>
            <a:srgbClr val="234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0" y="2313432"/>
            <a:ext cx="777240" cy="91440"/>
          </a:xfrm>
          <a:prstGeom prst="rect">
            <a:avLst/>
          </a:prstGeom>
          <a:solidFill>
            <a:srgbClr val="8F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61504" y="2670048"/>
            <a:ext cx="3657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2670048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0DC"/>
                </a:solidFill>
                <a:latin typeface="Microsoft YaHei"/>
                <a:ea typeface="Microsoft YaHei"/>
                <a:cs typeface="Microsoft YaHei"/>
              </a:rPr>
              <a:t>多来源综合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2788920"/>
            <a:ext cx="1554480" cy="91440"/>
          </a:xfrm>
          <a:prstGeom prst="rect">
            <a:avLst/>
          </a:prstGeom>
          <a:solidFill>
            <a:srgbClr val="234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0" y="2788920"/>
            <a:ext cx="680085" cy="91440"/>
          </a:xfrm>
          <a:prstGeom prst="rect">
            <a:avLst/>
          </a:prstGeom>
          <a:solidFill>
            <a:srgbClr val="8F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61504" y="3145536"/>
            <a:ext cx="3657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5552" y="3145536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0DC"/>
                </a:solidFill>
                <a:latin typeface="Microsoft YaHei"/>
                <a:ea typeface="Microsoft YaHei"/>
                <a:cs typeface="Microsoft YaHei"/>
              </a:rPr>
              <a:t>合规与抗注入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3264408"/>
            <a:ext cx="1554480" cy="91440"/>
          </a:xfrm>
          <a:prstGeom prst="rect">
            <a:avLst/>
          </a:prstGeom>
          <a:solidFill>
            <a:srgbClr val="234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01200" y="3264408"/>
            <a:ext cx="582930" cy="91440"/>
          </a:xfrm>
          <a:prstGeom prst="rect">
            <a:avLst/>
          </a:prstGeom>
          <a:solidFill>
            <a:srgbClr val="8F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61504" y="3621024"/>
            <a:ext cx="3657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5552" y="3621024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0DC"/>
                </a:solidFill>
                <a:latin typeface="Microsoft YaHei"/>
                <a:ea typeface="Microsoft YaHei"/>
                <a:cs typeface="Microsoft YaHei"/>
              </a:rPr>
              <a:t>澄清与不可答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0" y="3739896"/>
            <a:ext cx="1554480" cy="91440"/>
          </a:xfrm>
          <a:prstGeom prst="rect">
            <a:avLst/>
          </a:prstGeom>
          <a:solidFill>
            <a:srgbClr val="234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01200" y="3739896"/>
            <a:ext cx="485775" cy="91440"/>
          </a:xfrm>
          <a:prstGeom prst="rect">
            <a:avLst/>
          </a:prstGeom>
          <a:solidFill>
            <a:srgbClr val="8F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61504" y="4096512"/>
            <a:ext cx="3657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5552" y="409651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0DC"/>
                </a:solidFill>
                <a:latin typeface="Microsoft YaHei"/>
                <a:ea typeface="Microsoft YaHei"/>
                <a:cs typeface="Microsoft YaHei"/>
              </a:rPr>
              <a:t>实时数据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4215384"/>
            <a:ext cx="1554480" cy="91440"/>
          </a:xfrm>
          <a:prstGeom prst="rect">
            <a:avLst/>
          </a:prstGeom>
          <a:solidFill>
            <a:srgbClr val="234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01200" y="4215384"/>
            <a:ext cx="388620" cy="91440"/>
          </a:xfrm>
          <a:prstGeom prst="rect">
            <a:avLst/>
          </a:prstGeom>
          <a:solidFill>
            <a:srgbClr val="8F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61504" y="4572000"/>
            <a:ext cx="3657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5552" y="457200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0DC"/>
                </a:solidFill>
                <a:latin typeface="Microsoft YaHei"/>
                <a:ea typeface="Microsoft YaHei"/>
                <a:cs typeface="Microsoft YaHei"/>
              </a:rPr>
              <a:t>多轮与偏好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0" y="4690872"/>
            <a:ext cx="1554480" cy="91440"/>
          </a:xfrm>
          <a:prstGeom prst="rect">
            <a:avLst/>
          </a:prstGeom>
          <a:solidFill>
            <a:srgbClr val="234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01200" y="4690872"/>
            <a:ext cx="388620" cy="91440"/>
          </a:xfrm>
          <a:prstGeom prst="rect">
            <a:avLst/>
          </a:prstGeom>
          <a:solidFill>
            <a:srgbClr val="8F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61504" y="5047488"/>
            <a:ext cx="3977639" cy="7498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D3A4"/>
                </a:solidFill>
                <a:latin typeface="Microsoft YaHei"/>
                <a:ea typeface="Microsoft YaHei"/>
                <a:cs typeface="Microsoft YaHei"/>
              </a:rPr>
              <a:t>硬门槛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E7E1D6"/>
                </a:solidFill>
                <a:latin typeface="Microsoft YaHei"/>
                <a:ea typeface="Microsoft YaHei"/>
                <a:cs typeface="Microsoft YaHei"/>
              </a:rPr>
              <a:t>不串公司，不串年份，不伪造来源，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E7E1D6"/>
                </a:solidFill>
                <a:latin typeface="Microsoft YaHei"/>
                <a:ea typeface="Microsoft YaHei"/>
                <a:cs typeface="Microsoft YaHei"/>
              </a:rPr>
              <a:t>也不给确定性买卖指令。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0352" y="6547104"/>
            <a:ext cx="11128248" cy="10972"/>
          </a:xfrm>
          <a:prstGeom prst="rect">
            <a:avLst/>
          </a:prstGeom>
          <a:solidFill>
            <a:srgbClr val="E4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6601968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财智  ·  银行 AI 智能体答辩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6601968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872"/>
                </a:solidFill>
                <a:latin typeface="Microsoft YaHei"/>
                <a:ea typeface="Microsoft YaHei"/>
                <a:cs typeface="Microsoft YaHei"/>
              </a:rPr>
              <a:t>09   / 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8A6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D3A4"/>
                </a:solidFill>
                <a:latin typeface="Microsoft YaHei"/>
                <a:ea typeface="Microsoft YaHei"/>
                <a:cs typeface="Microsoft YaHei"/>
              </a:rPr>
              <a:t>09    带走这三句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77724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8FCB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60120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听得懂，查得实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17320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9D3C8"/>
                </a:solidFill>
                <a:latin typeface="Microsoft YaHei"/>
                <a:ea typeface="Microsoft YaHei"/>
                <a:cs typeface="Microsoft YaHei"/>
              </a:rPr>
              <a:t>财智能听懂金融意图，自己选择技能和工具，只说能对上证据的结果。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94560"/>
            <a:ext cx="77724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8FCB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94560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三条可以当场看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9D3C8"/>
                </a:solidFill>
                <a:latin typeface="Microsoft YaHei"/>
                <a:ea typeface="Microsoft YaHei"/>
                <a:cs typeface="Microsoft YaHei"/>
              </a:rPr>
              <a:t>财务对比、基金筛选、一句里的跨场景查询，都跑在现在的产品上。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429000"/>
            <a:ext cx="77724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8FCB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29000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动账停在确认前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886200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9D3C8"/>
                </a:solidFill>
                <a:latin typeface="Microsoft YaHei"/>
                <a:ea typeface="Microsoft YaHei"/>
                <a:cs typeface="Microsoft YaHei"/>
              </a:rPr>
              <a:t>转账、卡片、代扣和代客下单尚未接入。没有允许决定，就不会执行。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800600"/>
            <a:ext cx="1234440" cy="22860"/>
          </a:xfrm>
          <a:prstGeom prst="rect">
            <a:avLst/>
          </a:prstGeom>
          <a:solidFill>
            <a:srgbClr val="8A6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029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57784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C1B4"/>
                </a:solidFill>
                <a:latin typeface="Microsoft YaHei"/>
                <a:ea typeface="Microsoft YaHei"/>
                <a:cs typeface="Microsoft YaHei"/>
              </a:rPr>
              <a:t>建议现场按这个顺序问：基金筛选，两家公司的财务对比，再把基金、财务和公告放进同一句。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财智：银行 AI 智能体答辩</dc:title>
  <dc:subject>人工智能赛道答辩材料，汇报不超过 10 分钟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答辩</cp:category>
</cp:coreProperties>
</file>